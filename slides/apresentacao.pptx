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Apresento a reprodução, no estado do Rio, de um modelo brasileiro de predição de mortalidade neonatal, usando apenas dados públicos do DATASUS.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mortalidade neonatal é a maior parcela da mortalidade infantil. A DN existe para todo nascimento, então um modelo baseado nela poderia ser aplicado em qualquer município.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artigo de referência é brasileiro e mostra desempenho muito alto. Mas depende de dados identificados, de uma única cidade, e não avalia calibração nem subgrupos.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perguntas: reproduzir com dados abertos, medir o valor das variáveis do parto e verificar calibração e equidade, que a revisão sistemática de Mangold et al. aponta como lacunas da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Espelhamos o desenho do artigo: treinar no passado e testar no ano seguinte. O ano de 2022 serve só para escolhas de modelagem.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principal contribuição metodológica: um linkage reproduzível com dados abertos, com taxa de pareamento comparável à obtida com nomes e endereços.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conjunto B responde à pergunta clínica de antes do parto. Todas as escolhas foram feitas em 2022.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H1 se confirma: AUROC acima de 0,95 com dados abertos, um pouco abaixo do artigo. A diferença entre boosting e logística é pequena.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Linhas cheias são o conjunto completo; tracejadas, o pré-parto. Os três modelos quase se sobrepõem.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pré-parto perde discriminação, mas ainda separa bem, principalmente pela idade gestacional. Ele é o que pode ser usado antes do nascimento, para regulação.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calibração global é boa. As diferenças por subgrupo são pequenas; a maior parte dos IC se sobrepõe, então H3 tem apoio apenas fraco.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sensibilidade mostra que o resultado não depende das passadas tolerantes. As limitações principais são o linkage incompleto e a ausência de validação em outro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 resumo: é possível reproduzir o modelo do artigo com dados abertos, e um modelo pré-parto já tem desempenho útil.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Predição de mortalidade neonatal no Rio de Janeiro com dados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9CCFC6"/>
                </a:solidFill>
                <a:latin typeface="Calibri"/>
              </a:rPr>
              <a:t>Linkage SINASC × SIM sem identificadores e aprendizado de máquina · 1.397.216 nascidos vivos, 2017–2023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Cledson da Silva Araújo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Introdução ao Aprendizado de Máquina para a Saúde · UFF · 2026.2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Motivação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Quem nasce com maior risco de morrer no primeiro mês?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0B4F5C"/>
                </a:solidFill>
                <a:latin typeface="Cambria"/>
              </a:rPr>
              <a:t>8,6‰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260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óbitos neonatais por mil nascidos vivos no RJ, 2017–2023 (SIM)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25196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E85D3F"/>
                </a:solidFill>
                <a:latin typeface="Cambria"/>
              </a:rPr>
              <a:t>12.039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3035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óbitos de 0 a 27 dias de vida em sete 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828800"/>
            <a:ext cx="69494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O período neonatal concentra a maior parte da mortalidade infantil, sobretudo por causas evitáveis.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A Declaração de Nascido Vivo (DN) é preenchida para todo nascimento e já está digitalizada.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0" i="0">
                <a:solidFill>
                  <a:srgbClr val="1F2A2E"/>
                </a:solidFill>
                <a:latin typeface="Calibri"/>
              </a:rPr>
              <a:t>Um escore de risco automático poderia priorizar UTI neonatal, transporte e visita domiciliar.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800" b="1" i="0">
                <a:solidFill>
                  <a:srgbClr val="0B4F5C"/>
                </a:solidFill>
                <a:latin typeface="Calibri"/>
              </a:rPr>
              <a:t>Pergunta: </a:t>
            </a:r>
            <a:r>
              <a:rPr sz="1800" b="0" i="0">
                <a:solidFill>
                  <a:srgbClr val="1F2A2E"/>
                </a:solidFill>
                <a:latin typeface="Calibri"/>
              </a:rPr>
              <a:t>dá para fazer isso só com dados abertos?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Artigo de referência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Batista et al. (2021), BMC Pediatrics 21:322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8521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Município de São Paulo, nascimentos 2012–2017: 1.128.162 nascidos vivos, 7.282 óbitos neonatais.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Linkage probabilístico SINASC × SIM com dados identificados (cedidos pela prefeitura).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23 variáveis da DN; cinco algoritmos; otimização bayesiana; treino 2012–2016, teste 2017.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700" b="0" i="0">
                <a:solidFill>
                  <a:srgbClr val="1F2A2E"/>
                </a:solidFill>
                <a:latin typeface="Calibri"/>
              </a:rPr>
              <a:t>Principais variáveis (SHAP): Apgar 5, peso, Apgar 1, anomalia, idade gestacional.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173736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874519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XGBoost no teste de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4688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0,971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6060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33832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0,586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5204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AUPRC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4297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0,548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4348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2120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B4F5C"/>
                </a:solidFill>
                <a:latin typeface="Cambria"/>
              </a:rPr>
              <a:t>&gt;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34924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dos óbitos nos 5% de maior risco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Lacunas e perguntas de pesquisa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Reprodução com dados abertos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Os microdados públicos não têm número da DN nem nome: é possível parear e reproduzir o desempenho no RJ?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H1: AUROC ≥ 0,95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Risco antes do parto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Quanto se perde sem Apgar, peso e anomalia, usando só o que se sabe na admissão para o parto?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H2: queda substancial, ainda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63040"/>
            <a:ext cx="3474720" cy="466344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19" y="1691640"/>
            <a:ext cx="548640" cy="548640"/>
          </a:xfrm>
          <a:prstGeom prst="ellipse">
            <a:avLst/>
          </a:prstGeom>
          <a:solidFill>
            <a:srgbClr val="0B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231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B4F5C"/>
                </a:solidFill>
                <a:latin typeface="Calibri"/>
              </a:rPr>
              <a:t>Calibração e equidade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40"/>
            <a:ext cx="2926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O modelo erra mais para algum grupo de raça/cor, escolaridade da mãe ou região?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3035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E85D3F"/>
                </a:solidFill>
                <a:latin typeface="Calibri"/>
              </a:rPr>
              <a:t>H3: pior na baixa escolaridade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Dados e desenho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Microdados públicos do DATASUS, residentes no estado do RJ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Ajuste · 2017–2021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1.040.702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nascidos vivos · 8.017 óbitos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2651760"/>
            <a:ext cx="365760" cy="365760"/>
          </a:xfrm>
          <a:prstGeom prst="rightArrow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79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Validação ·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180.369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nascidos vivos · 1.388 óbitos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35240" y="2651760"/>
            <a:ext cx="365760" cy="365760"/>
          </a:xfrm>
          <a:prstGeom prst="rightArrow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19" y="1737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85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Teste ·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23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176.145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nascidos vivos · 1.444 óbitos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10944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SINASC (DNRJ2017–2023) e SIM (DORJ2017–2024) baixados do FTP do DATASUS, sem cadastro.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Desfecho: óbito não fetal com 0 a 27 dias de vida. O SIM vai até 2024 para captar quem nasceu em dezembro de 2023.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Validação usada para hiperparâmetros, early stopping, recalibração e limiar; 2023 é avaliado uma única vez.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Linkage sem identificadores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A Declaração de Óbito de menores de 1 ano repete dados do nascimento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6 chaves compostas em cascata: data de nascimento, sexo, município, peso, idade da mãe, semanas de gestação, gravidez, parto, estabelecimento.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Só pares 1:1 em cada passada.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Falsos pares estimados por mistura em campos fora das chaves.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57200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634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90,1%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A2E"/>
                </a:solidFill>
                <a:latin typeface="Calibri"/>
              </a:rPr>
              <a:t>dos 12.039 óbitos pareados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572000"/>
            <a:ext cx="2468880" cy="17373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46634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5F6B70"/>
                </a:solidFill>
                <a:latin typeface="Cambria"/>
              </a:rPr>
              <a:t>90,8%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A2E"/>
                </a:solidFill>
                <a:latin typeface="Calibri"/>
              </a:rPr>
              <a:t>Maia et al. (2017), com dados identificados</a:t>
            </a:r>
          </a:p>
        </p:txBody>
      </p:sp>
      <p:pic>
        <p:nvPicPr>
          <p:cNvPr id="11" name="Picture 10" descr="linkage_por_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28907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75488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0"/>
                </a:solidFill>
                <a:latin typeface="Calibri"/>
              </a:rPr>
              <a:t>Falsos pares estimados nas passadas 1–2 (que somam 82% dos pares): até 8%. As passadas tolerantes chegam a 32% e são testadas na análise de sensibilidade.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Dois conjuntos de variáveis × três modelos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A · completo (28 variáveis da DN)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Tudo o que o artigo usa: Apgar 1 e 5, peso, anomalia, idade gestacional, tipo de parto, Robson, pré-natal, dados da mãe.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B4F5C"/>
                </a:solidFill>
                <a:latin typeface="Calibri"/>
              </a:rPr>
              <a:t>B · pré-parto (17 variáveis)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O que se sabe na admissão: idade gestacional, gemelaridade, apresentação, consultas e início do pré-natal, Kotelchuck, histórico obstétrico, mãe.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109441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Regressão logística (L2, baseline) · XGBoost (modelo do artigo) · LightGBM.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Optuna/TPE maximizando a AUPRC em 2022; peso de classe como hiperparâmetro (nenhum, raiz, total).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Recalibração isotônica em 2022. Discriminação pelo escore bruto; calibração e limiar pela probabilidade.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600" b="0" i="0">
                <a:solidFill>
                  <a:srgbClr val="1F2A2E"/>
                </a:solidFill>
                <a:latin typeface="Calibri"/>
              </a:rPr>
              <a:t>IC 95% por bootstrap estratificado (500); ΔAUROC/ΔAUPRC por bootstrap pareado; SHAP em 20 mil nascimentos.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Resultados no teste de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IC 95% por bootstrap; limiar escolhido em 2022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2377440"/>
                <a:gridCol w="2377440"/>
                <a:gridCol w="109728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Óbitos no top 5%</a:t>
                      </a:r>
                    </a:p>
                  </a:txBody>
                  <a:tcPr marL="73152" marR="73152" anchor="ctr">
                    <a:solidFill>
                      <a:srgbClr val="0B4F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0,953 (0,946–0,961)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0,533 (0,509–0,563)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0,546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86,2%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0,956 (0,948–0,962)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0,576 (0,553–0,605)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0,595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86,8%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A · completo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0,956 (0,949–0,963)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0,573 (0,551–0,600)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0,580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86,6%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0,887 (0,875–0,898)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0,382 (0,357–0,413)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0,476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70,6%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0,890 (0,879–0,901)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0,406 (0,380–0,437)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0,478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F2A2E"/>
                          </a:solidFill>
                          <a:latin typeface="Calibri"/>
                        </a:rPr>
                        <a:t>71,6%</a:t>
                      </a:r>
                    </a:p>
                  </a:txBody>
                  <a:tcPr marL="73152" marR="73152" anchor="ctr">
                    <a:solidFill>
                      <a:srgbClr val="E3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B · pré-parto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0,891 (0,880–0,902)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0,399 (0,372–0,429)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0,469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2E"/>
                          </a:solidFill>
                          <a:latin typeface="Calibri"/>
                        </a:rPr>
                        <a:t>70,8%</a:t>
                      </a:r>
                    </a:p>
                  </a:txBody>
                  <a:tcPr marL="73152" marR="73152" anchor="ctr">
                    <a:solidFill>
                      <a:srgbClr val="F4F8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944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Artigo (SP, 2017):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AUROC 0,971 · AUPRC 0,586 · F1 0,548 · &gt; 90% dos óbitos no top 5%.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XGBoost × LR (A):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ΔAUROC 0,003, ΔAUPRC 0,042: ganho pequeno do boosting.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Discriminação e captura de óbitos</a:t>
            </a:r>
          </a:p>
        </p:txBody>
      </p:sp>
      <p:pic>
        <p:nvPicPr>
          <p:cNvPr id="3" name="Picture 2" descr="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949440" cy="3356386"/>
          </a:xfrm>
          <a:prstGeom prst="rect">
            <a:avLst/>
          </a:prstGeom>
        </p:spPr>
      </p:pic>
      <p:pic>
        <p:nvPicPr>
          <p:cNvPr id="4" name="Picture 3" descr="captura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4114800" cy="258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42062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2E"/>
                </a:solidFill>
                <a:latin typeface="Calibri"/>
              </a:rPr>
              <a:t>Priorizando 5% dos nascimentos, o modelo completo captura 87% dos óbitos; o pré-parto, 72%.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Quanto vale o momento do parto?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XGBoost: conjunto completo × pré-parto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B4F5C"/>
                </a:solidFill>
                <a:latin typeface="Cambria"/>
              </a:rPr>
              <a:t>0,890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4320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AUROC do modelo pré-parto (acima do esperado em H2)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291840" cy="21945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85D3F"/>
                </a:solidFill>
                <a:latin typeface="Cambria"/>
              </a:rPr>
              <a:t>−0,066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02920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2E"/>
                </a:solidFill>
                <a:latin typeface="Calibri"/>
              </a:rPr>
              <a:t>ΔAUROC (IC 0,056–0,076); ΔAUPRC −0,169</a:t>
            </a:r>
          </a:p>
        </p:txBody>
      </p:sp>
      <p:pic>
        <p:nvPicPr>
          <p:cNvPr id="10" name="Picture 9" descr="shap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7589520" cy="3124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0" y="5120640"/>
            <a:ext cx="7589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Sem as variáveis do parto, a idade gestacional domina; consultas de pré-natal, escolaridade e raça/cor da mãe ganham peso.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Calibração e subgrupos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F6B70"/>
                </a:solidFill>
                <a:latin typeface="Calibri"/>
              </a:rPr>
              <a:t>XGBoost recalibrado no teste de 2023, IC 95% por bootstrap</a:t>
            </a:r>
          </a:p>
        </p:txBody>
      </p:sp>
      <p:pic>
        <p:nvPicPr>
          <p:cNvPr id="4" name="Picture 3" descr="sub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5656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47472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O/E global: 1,02 (A) e 1,05 (B).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modelo A, a AUROC varia de 0,950 a 0,962 entre subgrupos, com IC sobrepostos.</a:t>
            </a:r>
          </a:p>
          <a:p>
            <a:pPr algn="l" marL="256032" indent="-256032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pré-parto, a AUROC é menor na baixa escolaridade (0,868) e o risco de filhos de mães brancas é subestimado (O/E 1,15).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4F5C"/>
                </a:solidFill>
                <a:latin typeface="Cambria"/>
              </a:rPr>
              <a:t>Sensibilidade e limitações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94415" cy="1280160"/>
          </a:xfrm>
          <a:prstGeom prst="roundRect">
            <a:avLst>
              <a:gd name="adj" fmla="val 8000"/>
            </a:avLst>
          </a:prstGeom>
          <a:solidFill>
            <a:srgbClr val="E3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572768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4F5C"/>
                </a:solidFill>
                <a:latin typeface="Calibri"/>
              </a:rPr>
              <a:t>Só as passadas 1–2 do linkage: </a:t>
            </a:r>
            <a:r>
              <a:rPr sz="1600" b="0" i="0">
                <a:solidFill>
                  <a:srgbClr val="1F2A2E"/>
                </a:solidFill>
                <a:latin typeface="Calibri"/>
              </a:rPr>
              <a:t>AUROC 0,959 (A) e 0,891 (B), contra 0,956 e 0,890 com todas. Os falsos pares não explicam o desempenho.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5467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Óbitos não pareados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6576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10% dos óbitos ficam rotulados como sobreviventes.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01752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15467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Um estado, anos recentes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Validação temporal, mas não externa (outra UF).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79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892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Idade gestacional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394959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No pré-parto usamos a IG do parto, aproximação da IG na admissão.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79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CC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892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4F5C"/>
                </a:solidFill>
                <a:latin typeface="Calibri"/>
              </a:rPr>
              <a:t>Uso clínico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394959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2E"/>
                </a:solidFill>
                <a:latin typeface="Calibri"/>
              </a:rPr>
              <a:t>Precisão de 63% no limiar (A): alertas precisam de desenho de fluxo.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Conclusões e próximos passos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Linkage aberto e reproduzível: 90,1% dos óbitos pareados, como com dados identificados.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Reprodução do artigo no RJ: AUROC 0,956 e 87% dos óbitos no top 5%.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9C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06333C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47472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Antes do parto: AUROC 0,890, bem calibrado, útil para regulação.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26280"/>
            <a:ext cx="11094415" cy="1783080"/>
          </a:xfrm>
          <a:prstGeom prst="roundRect">
            <a:avLst>
              <a:gd name="adj" fmla="val 8000"/>
            </a:avLst>
          </a:prstGeom>
          <a:solidFill>
            <a:srgbClr val="06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CCFC6"/>
                </a:solidFill>
                <a:latin typeface="Calibri"/>
              </a:rPr>
              <a:t>Trabalhos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Validação externa em outras UFs · linkage probabilístico nas passadas tolerantes · óbito pós-neonatal · IG estimada no pré-natal · avaliação de impacto com gestores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