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tarde. Vou apresentar meu projeto de aplicação: prever o óbito neonatal no estado do Rio de Janeiro usando só dados abertos do SUS. O trabalho parte de um artigo brasileiro, que fez isso em São Paulo com dados identificados. A pergunta central é se dá para chegar ao mesmo resultado sem acesso privilegiado aos dados. Para isso, construí um linkage entre nascimentos e óbitos sem nenhum identificador. Vou mostrar como o linkage foi feito, o quanto ele erra e se esses erros afetam as conclusões. Depois apresento os modelos, a calibração, a utilidade clínica e as limitações.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Óbito neonatal é o que ocorre de 0 a 27 dias de vida. É a maior parte da mortalidade infantil. No RJ, entre 2017 e 2023, foram 8,6 óbitos por mil nascidos vivos, 12.039 ao todo. Boa parte é evitável, e o risco se concentra em poucos nascimentos. A Declaração de Nascido Vivo é preenchida para todo nascimento, em qualquer município. Um escore calculado a partir dela pode ajudar a priorizar UTI neonatal, transporte e visita domiciliar. A pergunta é se isso é possível com os dados que qualquer pesquisador pode baixar.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artigo de referência é de Batista e colegas, 2021, na BMC Pediatrics. Eles parearam nascimentos e óbitos de São Paulo usando nome e endereço, cedidos pela prefeitura. Com as 23 variáveis da DN, treinaram cinco algoritmos com validação temporal: treino até 2016 e teste em 2017. O XGBoost teve AUROC de 0,971, e os 5% de maior risco concentraram mais de 90% dos óbitos. As variáveis mais importantes foram Apgar, peso, anomalia e idade gestacional. É um resultado forte, mas numa única cidade e com dados que não estão disponíveis para terceiros.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Daí vêm três hipóteses, as mesmas da minha proposta. H1: com dados abertos, o modelo completo atinge AUROC de pelo menos 0,95. H2: um modelo só com o que se sabe na admissão para o parto perde desempenho, mas continua útil. H3: a calibração piora nos filhos de mães com menor escolaridade. As lacunas de calibração e de validação externa também aparecem na revisão sistemática de Mangold: só 45% dos estudos reportam calibração. Vou mostrar o resultado de cada hipótese, inclusive a que não se confirmou.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dados são o SINASC e o SIM do DATASUS, por residência no RJ, baixados do FTP público, sem cadastro. São 1.397.216 nascidos vivos. O SIM vai até 2024 para captar quem nasceu em dezembro de 2023. O desenho é temporal, como no artigo: ajuste em 2017 a 2021, validação em 2022 e teste em 2023, usado uma única vez. Um detalhe importante: a TMN do teste, 8,20, é maior que a do treino, 7,70. Isso vai aparecer na calibração. Registrei o hash SHA-256 de cada arquivo, porque o DATASUS revisa 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parte central. Os arquivos públicos não têm o número da DN nem nomes. Mas a Declaração de Óbito de menores de um ano repete dados do nascimento. Então pareio por chaves compostas, em cascata, aceitando só pares únicos. Pareei 90,1% dos óbitos. Parte desses pares é falsa: estimei isso comparando campos que não entram nas chaves, e o resultado é cerca de 85% dos óbitos com par verdadeiro. A estimativa supõe que a primeira passada, com oito campos, não tem falsos pares. O pareamento é 94,3% na capital e 88,0% no interior. Os não pareados são os óbitos sem peso, semanas ou idade da mãe na DO: 27% deles não têm peso.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Comparo dois conjuntos de variáveis. O A é o completo, como no artigo, com Apgar, peso e anomalia. O B tem só o que se sabe na admissão para o parto. Atenção: a idade gestacional do B é a do parto, e consultas e Kotelchuck dependem dela. Então o B responde a qual é o risco se o parto acontece agora, e não semanas antes. Uso três modelos: regressão logística como linha de base, XGBoost e LightGBM. Os hiperparâmetros vêm de busca bayesiana, maximizando a AUPRC, que é a métrica certa com 0,8% de positivos. Não usei SMOTE, para preservar a calibração.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teste de 2023, o XGBoost completo teve AUROC de 0,956 e AUPRC de 0,576. O artigo teve 0,971 e 0,586. H1 se confirma. A logística fica muito perto: o ganho do XGBoost em AUROC é de 0,003, com limite inferior praticamente zero, e o ganho mais claro está na AUPRC. Na prática, as variáveis da DN carregam quase toda a informação, e o algoritmo importa pouco. A precisão no limiar é maior e a sensibilidade menor que no artigo, mas isso decorre da escolha do limiar.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 curvas, as linhas cheias são o modelo completo e as tracejadas, o pré-parto. Os três algoritmos quase se sobrepõem. À direita está a métrica operacional: priorizando 5% dos nascimentos, o modelo completo captura 87% dos óbitos e o pré-parto, 72%. Ramos e colegas, em 2025, com dados nacionais, encontraram mais de 85%, o que é coerente. A diferença para os 90% do artigo é compatível com os óbitos sem par verdadeiro, que são menos extremos e mais difíceis, e com a heterogeneidade do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modelo pré-parto perde 0,066 de AUROC e bem mais de AUPRC, mas ainda chega a 0,890. H2 se confirma em parte: perdeu, mas continua útil. Pelo SHAP, quase tudo vem da idade gestacional. Por isso, o uso precisa ser bem delimitado: na admissão, com o parto iminente, para decidir transferência in utero para uma maternidade com UTI neonatal e preparar a equipe. Ele não serve para triagem precoce da gestação, porque nem a idade gestacional do parto nem as consultas acumuladas são conhecidas semanas antes. Essa é uma pergunta provável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pergunta mais provável é se os erros do linkage explicam os resultados. Para testar, reajustei o modelo com rótulos alternativos no treino, avaliando sempre no mesmo teste de 2023. No cenário estrito, removi os pares duvidosos. No pior caso, marquei-os como sobreviventes. A AUROC mudou -0,0001 e -0,0005, com intervalos que incluem zero. A discriminação é robusta. Mas o O/E sobe para até 1,23: a calibração absoluta depende da completude do linkage. As limitações principais são os rótulos imperfeitos, a falta de validação externa e o uso de variáveis do pós-parto no modelo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concluir. Primeiro, dá para reproduzir o resultado do artigo com dados totalmente abertos, e a discriminação é robusta aos erros do linkage. Segundo, a calibração absoluta não é: depende da completude do linkage e do drift temporal, então um uso real exigiria recalibração periódica. Terceiro, o modelo na admissão para o parto tem desempenho útil para decisões de transferência. Como próximos passos: validar em outros estados, acrescentar uma etapa probabilística ao linkage e avaliar o impacto com gestores. O código e os dados de reprodução estão no repositório.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Calibração e utilidade clínica. A inclinação de calibração é 0,98 no A e 0,99 no B, praticamente 1, então as previsões não são extremas demais. O intercepto do B é 0,063, que é exatamente o logaritmo de 8,20 sobre 7,70: a mortalidade subiu em 2023. É drift de prevalência, não defeito do modelo. Em uso real, o intercepto precisaria ser recalibrado periodicamente. A curva de decisão mostra benefício líquido acima de tratar todos e de tratar nenhum em todos os limiares de 1% a 20%. Esta é a métrica que diz se o modelo ajuda a decidir.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Subgrupos e H3. A hipótese era calibração pior na baixa escolaridade. O O/E nesse grupo foi 1,06, com intervalo que inclui 1 e se sobrepõe ao do ensino superior. Então H3 não se confirmou, e prefiro dizer isso claramente a trocar a hipótese depois de ver os dados. O modelo completo é homogêneo. O pré-parto subestima o risco para mães brancas e para o interior. No interior há uma explicação alternativa: o pareamento é menor lá. Para raça/cor, o pareamento é quase igual entre os grupos, então o linkage não explica.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Predição de mortalidade neonatal no Rio de Janeiro com dados abertos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9CCFC6"/>
                </a:solidFill>
                <a:latin typeface="Calibri"/>
              </a:rPr>
              <a:t>Linkage SINASC × SIM sem identificadores e aprendizado de máquina · 1.397.216 nascidos vivos, 2017–2023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Cledson da Silva Araújo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Introdução ao Aprendizado de Máquina para a Saúde · UFF · 2026.2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0"/>
                </a:solidFill>
                <a:latin typeface="Calibri"/>
              </a:rPr>
              <a:t>Quem nasce com maior risco de morrer no primeiro mês?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74519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0B4F5C"/>
                </a:solidFill>
                <a:latin typeface="Cambria"/>
              </a:rPr>
              <a:t>8,6‰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260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2E"/>
                </a:solidFill>
                <a:latin typeface="Calibri"/>
              </a:rPr>
              <a:t>óbitos neonatais por mil nascidos vivos no RJ, 2017–2023 (SIM)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425196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E85D3F"/>
                </a:solidFill>
                <a:latin typeface="Cambria"/>
              </a:rPr>
              <a:t>12.039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53035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2E"/>
                </a:solidFill>
                <a:latin typeface="Calibri"/>
              </a:rPr>
              <a:t>óbitos de 0 a 27 dias de vida em sete anos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69494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1F2A2E"/>
                </a:solidFill>
                <a:latin typeface="Calibri"/>
              </a:rPr>
              <a:t>O período neonatal concentra a maior parte da mortalidade infantil, sobretudo por causas evitáveis.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1F2A2E"/>
                </a:solidFill>
                <a:latin typeface="Calibri"/>
              </a:rPr>
              <a:t>A Declaração de Nascido Vivo (DN) é preenchida para todo nascimento e já está digitalizada.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1F2A2E"/>
                </a:solidFill>
                <a:latin typeface="Calibri"/>
              </a:rPr>
              <a:t>Um escore de risco automático poderia priorizar UTI neonatal, transporte e visita domiciliar.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800" b="1" i="0">
                <a:solidFill>
                  <a:srgbClr val="0B4F5C"/>
                </a:solidFill>
                <a:latin typeface="Calibri"/>
              </a:rPr>
              <a:t>Pergunta: </a:t>
            </a:r>
            <a:r>
              <a:rPr sz="1800" b="0" i="0">
                <a:solidFill>
                  <a:srgbClr val="1F2A2E"/>
                </a:solidFill>
                <a:latin typeface="Calibri"/>
              </a:rPr>
              <a:t>dá para fazer isso só com dados abertos?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Artigo de referência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0"/>
                </a:solidFill>
                <a:latin typeface="Calibri"/>
              </a:rPr>
              <a:t>Batista et al. (2021), BMC Pediatrics 21:322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8521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700" b="0" i="0">
                <a:solidFill>
                  <a:srgbClr val="1F2A2E"/>
                </a:solidFill>
                <a:latin typeface="Calibri"/>
              </a:rPr>
              <a:t>Município de São Paulo, nascimentos 2012–2017: 1.128.162 nascidos vivos, 7.282 óbitos neonatais.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700" b="0" i="0">
                <a:solidFill>
                  <a:srgbClr val="1F2A2E"/>
                </a:solidFill>
                <a:latin typeface="Calibri"/>
              </a:rPr>
              <a:t>Linkage probabilístico SINASC × SIM com dados identificados (cedidos pela prefeitura).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700" b="0" i="0">
                <a:solidFill>
                  <a:srgbClr val="1F2A2E"/>
                </a:solidFill>
                <a:latin typeface="Calibri"/>
              </a:rPr>
              <a:t>23 variáveis da DN; cinco algoritmos; otimização bayesiana; treino 2012–2016, teste 2017.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700" b="0" i="0">
                <a:solidFill>
                  <a:srgbClr val="1F2A2E"/>
                </a:solidFill>
                <a:latin typeface="Calibri"/>
              </a:rPr>
              <a:t>Principais variáveis (SHAP): Apgar 5, peso, Apgar 1, anomalia, idade gestacional.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737360"/>
            <a:ext cx="4846320" cy="448056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4F5C"/>
                </a:solidFill>
                <a:latin typeface="Calibri"/>
              </a:rPr>
              <a:t>XGBoost no teste de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4688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4F5C"/>
                </a:solidFill>
                <a:latin typeface="Cambria"/>
              </a:rPr>
              <a:t>0,971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60604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2E"/>
                </a:solidFill>
                <a:latin typeface="Calibri"/>
              </a:rPr>
              <a:t>AUROC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33832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4F5C"/>
                </a:solidFill>
                <a:latin typeface="Cambria"/>
              </a:rPr>
              <a:t>0,586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2044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2E"/>
                </a:solidFill>
                <a:latin typeface="Calibri"/>
              </a:rPr>
              <a:t>AUPRC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2976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4F5C"/>
                </a:solidFill>
                <a:latin typeface="Cambria"/>
              </a:rPr>
              <a:t>0,548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43484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2E"/>
                </a:solidFill>
                <a:latin typeface="Calibri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52120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B4F5C"/>
                </a:solidFill>
                <a:latin typeface="Cambria"/>
              </a:rPr>
              <a:t>&gt; 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34924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2E"/>
                </a:solidFill>
                <a:latin typeface="Calibri"/>
              </a:rPr>
              <a:t>dos óbitos nos 5% de maior risco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Lacunas e perguntas de pesquisa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74720" cy="466344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4231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B4F5C"/>
                </a:solidFill>
                <a:latin typeface="Calibri"/>
              </a:rPr>
              <a:t>Reprodução com dados abertos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291840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2E"/>
                </a:solidFill>
                <a:latin typeface="Calibri"/>
              </a:rPr>
              <a:t>Os microdados públicos não têm número da DN nem nome: é possível parear e reproduzir o desempenho no RJ?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53035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E85D3F"/>
                </a:solidFill>
                <a:latin typeface="Calibri"/>
              </a:rPr>
              <a:t>H1: AUROC ≥ 0,95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474720" cy="466344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79" y="1691640"/>
            <a:ext cx="548640" cy="548640"/>
          </a:xfrm>
          <a:prstGeom prst="ellipse">
            <a:avLst/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4231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B4F5C"/>
                </a:solidFill>
                <a:latin typeface="Calibri"/>
              </a:rPr>
              <a:t>Risco antes do parto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3291840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2E"/>
                </a:solidFill>
                <a:latin typeface="Calibri"/>
              </a:rPr>
              <a:t>Quanto se perde sem Apgar, peso e anomalia, usando só o que se sabe na admissão para o parto?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53035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E85D3F"/>
                </a:solidFill>
                <a:latin typeface="Calibri"/>
              </a:rPr>
              <a:t>H2: queda substancial, ainda útil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63040"/>
            <a:ext cx="3474720" cy="466344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19" y="1691640"/>
            <a:ext cx="548640" cy="548640"/>
          </a:xfrm>
          <a:prstGeom prst="ellipse">
            <a:avLst/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231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B4F5C"/>
                </a:solidFill>
                <a:latin typeface="Calibri"/>
              </a:rPr>
              <a:t>Calibração e equidade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40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2E"/>
                </a:solidFill>
                <a:latin typeface="Calibri"/>
              </a:rPr>
              <a:t>O modelo erra mais para algum grupo de raça/cor, escolaridade da mãe ou região?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3035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E85D3F"/>
                </a:solidFill>
                <a:latin typeface="Calibri"/>
              </a:rPr>
              <a:t>H3: calibração pior na baixa escolaridade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Dados e desenho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0"/>
                </a:solidFill>
                <a:latin typeface="Calibri"/>
              </a:rPr>
              <a:t>Microdados públicos do DATASUS, residentes no estado do RJ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7451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4F5C"/>
                </a:solidFill>
                <a:latin typeface="Calibri"/>
              </a:rPr>
              <a:t>Ajuste · 2017–2021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2316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1.040.702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00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2E"/>
                </a:solidFill>
                <a:latin typeface="Calibri"/>
              </a:rPr>
              <a:t>nascidos vivos · 8.017 óbitos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86200" y="2651760"/>
            <a:ext cx="365760" cy="365760"/>
          </a:xfrm>
          <a:prstGeom prst="rightArrow">
            <a:avLst/>
          </a:prstGeom>
          <a:solidFill>
            <a:srgbClr val="9C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79" y="173736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87451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4F5C"/>
                </a:solidFill>
                <a:latin typeface="Calibri"/>
              </a:rPr>
              <a:t>Validação ·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42316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180.369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200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2E"/>
                </a:solidFill>
                <a:latin typeface="Calibri"/>
              </a:rPr>
              <a:t>nascidos vivos · 1.388 óbitos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35240" y="2651760"/>
            <a:ext cx="365760" cy="365760"/>
          </a:xfrm>
          <a:prstGeom prst="rightArrow">
            <a:avLst/>
          </a:prstGeom>
          <a:solidFill>
            <a:srgbClr val="9C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9" y="173736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E85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1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Teste ·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2316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176.145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nascidos vivos · 1.444 óbitos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10944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1F2A2E"/>
                </a:solidFill>
                <a:latin typeface="Calibri"/>
              </a:rPr>
              <a:t>SINASC (DNRJ2017–2023) e SIM (DORJ2017–2024) baixados do FTP do DATASUS, sem cadastro.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1F2A2E"/>
                </a:solidFill>
                <a:latin typeface="Calibri"/>
              </a:rPr>
              <a:t>Desfecho: óbito não fetal com 0 a 27 dias de vida. O SIM vai até 2024 para captar quem nasceu em dezembro de 2023.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1F2A2E"/>
                </a:solidFill>
                <a:latin typeface="Calibri"/>
              </a:rPr>
              <a:t>Validação usada para hiperparâmetros, early stopping, recalibração e limiar; 2023 é avaliado uma única vez.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Linkage sem identificadores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0"/>
                </a:solidFill>
                <a:latin typeface="Calibri"/>
              </a:rPr>
              <a:t>A Declaração de Óbito de menores de 1 ano repete dados do nascimento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1F2A2E"/>
                </a:solidFill>
                <a:latin typeface="Calibri"/>
              </a:rPr>
              <a:t>6 chaves compostas em cascata: data de nascimento, sexo, município, peso, idade da mãe, semanas de gestação, gravidez, parto, estabelecimento.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1F2A2E"/>
                </a:solidFill>
                <a:latin typeface="Calibri"/>
              </a:rPr>
              <a:t>Só pares 1:1 em cada passada.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1F2A2E"/>
                </a:solidFill>
                <a:latin typeface="Calibri"/>
              </a:rPr>
              <a:t>Falsos pares estimados por mistura em campos fora das chaves.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2468880" cy="173736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634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90,1%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A2E"/>
                </a:solidFill>
                <a:latin typeface="Calibri"/>
              </a:rPr>
              <a:t>dos 12.039 óbitos pareados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572000"/>
            <a:ext cx="2468880" cy="173736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46634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85D3F"/>
                </a:solidFill>
                <a:latin typeface="Cambria"/>
              </a:rPr>
              <a:t>≈85%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440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A2E"/>
                </a:solidFill>
                <a:latin typeface="Calibri"/>
              </a:rPr>
              <a:t>com par verdadeiro, descontados os falsos pares</a:t>
            </a:r>
          </a:p>
        </p:txBody>
      </p:sp>
      <p:pic>
        <p:nvPicPr>
          <p:cNvPr id="11" name="Picture 10" descr="linkage_por_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669280" cy="28907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47548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0"/>
                </a:solidFill>
                <a:latin typeface="Calibri"/>
              </a:rPr>
              <a:t>Falsos pares estimados nas passadas 1–2 (que somam 82% dos pares): até 8%. As passadas tolerantes chegam a 32%. Pareamento: 94,3% na capital, 88,0% no interior. Óbitos sem peso na DO quase não pareiam.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0"/>
                </a:solidFill>
                <a:latin typeface="Calibri"/>
              </a:rPr>
              <a:t>Dois conjuntos de variáveis × três modelos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4F5C"/>
                </a:solidFill>
                <a:latin typeface="Calibri"/>
              </a:rPr>
              <a:t>A · completo (28 variáveis da DN)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2E"/>
                </a:solidFill>
                <a:latin typeface="Calibri"/>
              </a:rPr>
              <a:t>Tudo o que o artigo usa: Apgar 1 e 5, peso, anomalia, idade gestacional, tipo de parto, Robson, pré-natal, dados da mãe.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4F5C"/>
                </a:solidFill>
                <a:latin typeface="Calibri"/>
              </a:rPr>
              <a:t>B · pré-parto (17 variáveis)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2E"/>
                </a:solidFill>
                <a:latin typeface="Calibri"/>
              </a:rPr>
              <a:t>O que se sabe na admissão: idade gestacional, gemelaridade, apresentação, consultas e início do pré-natal, Kotelchuck, histórico obstétrico, mãe.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1109441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1F2A2E"/>
                </a:solidFill>
                <a:latin typeface="Calibri"/>
              </a:rPr>
              <a:t>Regressão logística (L2, baseline) · XGBoost (modelo do artigo) · LightGBM.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1F2A2E"/>
                </a:solidFill>
                <a:latin typeface="Calibri"/>
              </a:rPr>
              <a:t>Optuna/TPE maximizando a AUPRC em 2022; peso de classe como hiperparâmetro (nenhum, raiz, total).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1F2A2E"/>
                </a:solidFill>
                <a:latin typeface="Calibri"/>
              </a:rPr>
              <a:t>Recalibração isotônica em 2022. Discriminação pelo escore bruto; calibração e limiar pela probabilidade.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1F2A2E"/>
                </a:solidFill>
                <a:latin typeface="Calibri"/>
              </a:rPr>
              <a:t>IC 95% por bootstrap estratificado (500); ΔAUROC/ΔAUPRC por bootstrap pareado; SHAP em 20 mil nascimentos.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Resultados no teste de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0"/>
                </a:solidFill>
                <a:latin typeface="Calibri"/>
              </a:rPr>
              <a:t>IC 95% por bootstrap; limiar escolhido em 2022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377440"/>
                <a:gridCol w="2377440"/>
                <a:gridCol w="10972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Conjunto</a:t>
                      </a:r>
                    </a:p>
                  </a:txBody>
                  <a:tcPr marL="73152" marR="73152" anchor="ctr"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anchor="ctr"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marL="73152" marR="73152" anchor="ctr"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AUPRC</a:t>
                      </a:r>
                    </a:p>
                  </a:txBody>
                  <a:tcPr marL="73152" marR="73152" anchor="ctr"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anchor="ctr"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Óbitos no top 5%</a:t>
                      </a:r>
                    </a:p>
                  </a:txBody>
                  <a:tcPr marL="73152" marR="73152" anchor="ctr">
                    <a:solidFill>
                      <a:srgbClr val="0B4F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A · completo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0,953 (0,946–0,961)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0,533 (0,509–0,563)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0,546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86,2%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A · completo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0,956 (0,948–0,962)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0,576 (0,553–0,605)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0,595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86,8%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A · completo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0,956 (0,949–0,963)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0,573 (0,551–0,600)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0,580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86,6%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B · pré-parto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0,887 (0,875–0,898)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0,382 (0,357–0,413)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0,476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70,6%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B · pré-parto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0,890 (0,879–0,901)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0,406 (0,380–0,437)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0,478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2E"/>
                          </a:solidFill>
                          <a:latin typeface="Calibri"/>
                        </a:rPr>
                        <a:t>71,6%</a:t>
                      </a:r>
                    </a:p>
                  </a:txBody>
                  <a:tcPr marL="73152" marR="73152" anchor="ctr">
                    <a:solidFill>
                      <a:srgbClr val="E3F1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B · pré-parto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0,891 (0,880–0,902)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0,399 (0,372–0,429)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0,469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2E"/>
                          </a:solidFill>
                          <a:latin typeface="Calibri"/>
                        </a:rPr>
                        <a:t>70,8%</a:t>
                      </a:r>
                    </a:p>
                  </a:txBody>
                  <a:tcPr marL="73152" marR="73152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4F5C"/>
                </a:solidFill>
                <a:latin typeface="Calibri"/>
              </a:rPr>
              <a:t>Artigo (SP, 2017): </a:t>
            </a:r>
            <a:r>
              <a:rPr sz="1600" b="0" i="0">
                <a:solidFill>
                  <a:srgbClr val="1F2A2E"/>
                </a:solidFill>
                <a:latin typeface="Calibri"/>
              </a:rPr>
              <a:t>AUROC 0,971 · AUPRC 0,586 · F1 0,548 · &gt; 90% dos óbitos no top 5%.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4F5C"/>
                </a:solidFill>
                <a:latin typeface="Calibri"/>
              </a:rPr>
              <a:t>XGBoost × LR (A): </a:t>
            </a:r>
            <a:r>
              <a:rPr sz="1600" b="0" i="0">
                <a:solidFill>
                  <a:srgbClr val="1F2A2E"/>
                </a:solidFill>
                <a:latin typeface="Calibri"/>
              </a:rPr>
              <a:t>ΔAUROC 0,003, ΔAUPRC 0,042: ganho pequeno do boosting.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Discriminação e captura de óbitos</a:t>
            </a:r>
          </a:p>
        </p:txBody>
      </p:sp>
      <p:pic>
        <p:nvPicPr>
          <p:cNvPr id="3" name="Picture 2" descr="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949440" cy="3356386"/>
          </a:xfrm>
          <a:prstGeom prst="rect">
            <a:avLst/>
          </a:prstGeom>
        </p:spPr>
      </p:pic>
      <p:pic>
        <p:nvPicPr>
          <p:cNvPr id="4" name="Picture 3" descr="captura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463040"/>
            <a:ext cx="4114800" cy="2582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4206240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2E"/>
                </a:solidFill>
                <a:latin typeface="Calibri"/>
              </a:rPr>
              <a:t>Priorizando 5% dos nascimentos, o modelo completo captura 87% dos óbitos; o pré-parto, 72%.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Quanto vale o momento do parto?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0"/>
                </a:solidFill>
                <a:latin typeface="Calibri"/>
              </a:rPr>
              <a:t>XGBoost: conjunto completo × pré-parto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B4F5C"/>
                </a:solidFill>
                <a:latin typeface="Cambria"/>
              </a:rPr>
              <a:t>0,890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2E"/>
                </a:solidFill>
                <a:latin typeface="Calibri"/>
              </a:rPr>
              <a:t>AUROC do modelo na admissão para o parto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41148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5D3F"/>
                </a:solidFill>
                <a:latin typeface="Cambria"/>
              </a:rPr>
              <a:t>−0,066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50292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2E"/>
                </a:solidFill>
                <a:latin typeface="Calibri"/>
              </a:rPr>
              <a:t>ΔAUROC (IC 0,056–0,076); ΔAUPRC −0,169</a:t>
            </a:r>
          </a:p>
        </p:txBody>
      </p:sp>
      <p:pic>
        <p:nvPicPr>
          <p:cNvPr id="10" name="Picture 9" descr="shap_impor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7589520" cy="3124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120640"/>
            <a:ext cx="7589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2E"/>
                </a:solidFill>
                <a:latin typeface="Calibri"/>
              </a:rPr>
              <a:t>A idade gestacional domina, e consultas e Kotelchuck também dependem dela.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4F5C"/>
                </a:solidFill>
                <a:latin typeface="Calibri"/>
              </a:rPr>
              <a:t>Uso: </a:t>
            </a:r>
            <a:r>
              <a:rPr sz="1400" b="0" i="0">
                <a:solidFill>
                  <a:srgbClr val="1F2A2E"/>
                </a:solidFill>
                <a:latin typeface="Calibri"/>
              </a:rPr>
              <a:t>risco na admissão, dado que o parto é agora (transferência in utero). Não serve para triagem precoce.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Calibração e utilidade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0"/>
                </a:solidFill>
                <a:latin typeface="Calibri"/>
              </a:rPr>
              <a:t>XGBoost recalibrado, teste de 2023</a:t>
            </a:r>
          </a:p>
        </p:txBody>
      </p:sp>
      <p:pic>
        <p:nvPicPr>
          <p:cNvPr id="4" name="Picture 3" descr="curva_deci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132320" cy="32317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645920"/>
            <a:ext cx="3749039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A2E"/>
                </a:solidFill>
                <a:latin typeface="Calibri"/>
              </a:rPr>
              <a:t>Inclinação de calibração: 0,98 (A) e 0,99 (B), ideal 1.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A2E"/>
                </a:solidFill>
                <a:latin typeface="Calibri"/>
              </a:rPr>
              <a:t>Intercepto de B: 0,063 ≈ ln(8,20/7,70). É o aumento da TMN em 2023 (drift).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A2E"/>
                </a:solidFill>
                <a:latin typeface="Calibri"/>
              </a:rPr>
              <a:t>Benefício líquido acima de tratar todos/nenhum de 1% a 20%. Com pt = 5%: 5,6 por mil, sinalizando 1,9% dos nascimentos.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Subgrupos e H3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0"/>
                </a:solidFill>
                <a:latin typeface="Calibri"/>
              </a:rPr>
              <a:t>IC 95% por bootstrap dentro de cada subgrupo</a:t>
            </a:r>
          </a:p>
        </p:txBody>
      </p:sp>
      <p:pic>
        <p:nvPicPr>
          <p:cNvPr id="4" name="Picture 3" descr="sub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98079" cy="3565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645920"/>
            <a:ext cx="34747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500" b="1" i="0">
                <a:solidFill>
                  <a:srgbClr val="0B4F5C"/>
                </a:solidFill>
                <a:latin typeface="Calibri"/>
              </a:rPr>
              <a:t>H3 não confirmada: </a:t>
            </a:r>
            <a:r>
              <a:rPr sz="1500" b="0" i="0">
                <a:solidFill>
                  <a:srgbClr val="1F2A2E"/>
                </a:solidFill>
                <a:latin typeface="Calibri"/>
              </a:rPr>
              <a:t>O/E na baixa escolaridade 1,06 (IC 0,97–1,16), que inclui 1.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A2E"/>
                </a:solidFill>
                <a:latin typeface="Calibri"/>
              </a:rPr>
              <a:t>Modelo A homogêneo: AUROC de 0,950 a 0,962.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A2E"/>
                </a:solidFill>
                <a:latin typeface="Calibri"/>
              </a:rPr>
              <a:t>Modelo B subestima mães brancas (O/E 1,15) e o interior (O/E 1,08). No interior, o pareamento também é menor.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4F5C"/>
                </a:solidFill>
                <a:latin typeface="Cambria"/>
              </a:rPr>
              <a:t>Sensibilidade ao linkage e limitações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55448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4F5C"/>
                </a:solidFill>
                <a:latin typeface="Calibri"/>
              </a:rPr>
              <a:t>Mesmo teste de 2023, rótulos alternativos no treino: </a:t>
            </a:r>
            <a:r>
              <a:rPr sz="1500" b="0" i="0">
                <a:solidFill>
                  <a:srgbClr val="1F2A2E"/>
                </a:solidFill>
                <a:latin typeface="Calibri"/>
              </a:rPr>
              <a:t>ΔAUROC -0,0001 (estrito) e -0,0005 (pior caso), com IC que incluem 0. A discriminação é robusta,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2E"/>
                </a:solidFill>
                <a:latin typeface="Calibri"/>
              </a:rPr>
              <a:t>mas o O/E sobe para 1,15–1,23: a calibração depende da completude do linkage.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C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5467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4F5C"/>
                </a:solidFill>
                <a:latin typeface="Calibri"/>
              </a:rPr>
              <a:t>Rótulos imperfeitos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6576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2E"/>
                </a:solidFill>
                <a:latin typeface="Calibri"/>
              </a:rPr>
              <a:t>≈15% dos óbitos sem par verdadeiro; menos extremos e mais do interior.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01752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C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315467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4F5C"/>
                </a:solidFill>
                <a:latin typeface="Calibri"/>
              </a:rPr>
              <a:t>Um estado, anos recentes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6576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2E"/>
                </a:solidFill>
                <a:latin typeface="Calibri"/>
              </a:rPr>
              <a:t>Validação temporal, mas não externa (outra UF).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79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C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892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4F5C"/>
                </a:solidFill>
                <a:latin typeface="Calibri"/>
              </a:rPr>
              <a:t>Idade gestacional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394959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2E"/>
                </a:solidFill>
                <a:latin typeface="Calibri"/>
              </a:rPr>
              <a:t>No modelo B é a IG do parto: vale para a admissão, não para semanas antes.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754879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C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892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4F5C"/>
                </a:solidFill>
                <a:latin typeface="Calibri"/>
              </a:rPr>
              <a:t>Uso clínico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394959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2E"/>
                </a:solidFill>
                <a:latin typeface="Calibri"/>
              </a:rPr>
              <a:t>Precisão de 63% no limiar (A): alertas precisam de desenho de fluxo.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Conclusões e próximos passos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9C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6333C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Linkage aberto: 90,1% pareados (≈85% verdadeiros); discriminação robusta a ele.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68880"/>
            <a:ext cx="640080" cy="640080"/>
          </a:xfrm>
          <a:prstGeom prst="ellipse">
            <a:avLst/>
          </a:prstGeom>
          <a:solidFill>
            <a:srgbClr val="9C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6333C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51460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Reprodução do artigo no RJ: AUROC 0,956 e 87% dos óbitos no top 5%.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9C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6333C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7472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Na admissão para o parto: AUROC 0,890 e benefício líquido positivo.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26280"/>
            <a:ext cx="11094415" cy="1783080"/>
          </a:xfrm>
          <a:prstGeom prst="roundRect">
            <a:avLst>
              <a:gd name="adj" fmla="val 8000"/>
            </a:avLst>
          </a:prstGeom>
          <a:solidFill>
            <a:srgbClr val="063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CCFC6"/>
                </a:solidFill>
                <a:latin typeface="Calibri"/>
              </a:rPr>
              <a:t>Trabalhos futuros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Validação externa em outras UFs · etapa probabilística no linkage · completude do linkage por ano e região · recalibração periódica (drift) · avaliação de impacto com gestores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