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Boa tarde. Vou apresentar meu projeto de aplicação: prever o óbito neonatal no estado do Rio de Janeiro usando só dados abertos do SUS. O trabalho parte de um artigo brasileiro, que fez isso em São Paulo com dados identificados. A pergunta central é se dá para chegar ao mesmo resultado sem acesso privilegiado aos dados. Para isso, construí um linkage entre nascimentos e óbitos sem nenhum identificador. Vou mostrar como o linkage foi feito, o quanto ele erra e se esses erros afetam as conclusões. Depois apresento os modelos, a calibração, a utilidade clínica e as limitações.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Óbito neonatal é o que ocorre de 0 a 27 dias de vida. É a maior parte da mortalidade infantil. No RJ, entre 2017 e 2024, foram 8,6 óbitos por mil nascidos vivos, 13.471 ao todo. Boa parte é evitável, e o risco se concentra em poucos nascimentos. A Declaração de Nascido Vivo é preenchida para todo nascimento, em qualquer município. Um escore calculado a partir dela pode ajudar a priorizar UTI neonatal, transporte e visita domiciliar. A pergunta é se isso é possível com os dados que qualquer pesquisador pode baixar.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artigo de referência é de Batista e colegas, 2021, na BMC Pediatrics. Eles parearam nascimentos e óbitos de São Paulo usando nome e endereço, cedidos pela prefeitura. Com as 23 variáveis da DN, treinaram cinco algoritmos com validação temporal: treino até 2016 e teste em 2017. O XGBoost teve AUROC de 0,971, e os 5% de maior risco concentraram mais de 90% dos óbitos. As variáveis mais importantes foram Apgar, peso, anomalia e idade gestacional. É um resultado forte, mas numa única cidade e com dados que não estão disponíveis para terceiros.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Daí vêm três hipóteses, as mesmas da minha proposta. H1: com dados abertos, o modelo completo atinge AUROC de pelo menos 0,95. H2: um modelo só com o que se sabe na admissão para o parto perde desempenho, mas continua útil. H3: a calibração piora nos filhos de mães com menor escolaridade. As lacunas de calibração e de validação externa também aparecem na revisão sistemática de Mangold: só 45% dos estudos reportam calibração. Vou mostrar o resultado de cada hipótese, inclusive a que não se confirmou.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dados são o SINASC e o SIM do DATASUS, por residência no RJ, baixados do FTP público, sem cadastro. São 1.560.938 nascidos vivos. O SIM vai até 2025 para captar quem nasceu em dezembro de 2024. O desenho é temporal, como no artigo: ajuste em 2017 a 2022, validação em 2023 e teste em 2024, usado uma única vez. Um detalhe importante: a TMN oscila entre os anos: 8,20 na validação e 7,98 no teste. Isso vai aparecer na calibração. Registrei o hash SHA-256 de cada arquivo, porque o DATASUS revisa os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é a parte central. Os arquivos públicos não têm o número da DN nem nomes. Mas a Declaração de Óbito de menores de um ano repete dados do nascimento. Então pareio por chaves compostas, em cascata, aceitando só pares únicos. Pareei 90,2% dos óbitos. Parte desses pares é falsa: estimei isso comparando campos que não entram nas chaves, e o resultado é cerca de 85% dos óbitos com par verdadeiro. A estimativa supõe que a primeira passada, com oito campos, não tem falsos pares. O pareamento é 94,3% na capital e 88,2% no interior. Os não pareados são os óbitos sem peso, semanas ou idade da mãe na DO: 27% deles não têm peso.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Comparo dois conjuntos de variáveis. O A é o completo, como no artigo, com Apgar, peso e anomalia. O B tem só o que se sabe na admissão para o parto. Atenção: a idade gestacional do B é a do parto, e consultas e Kotelchuck dependem dela. Então o B responde a qual é o risco se o parto acontece agora, e não semanas antes. Uso três modelos: regressão logística como linha de base, XGBoost e LightGBM. Os hiperparâmetros vêm de busca bayesiana, maximizando a AUPRC, que é a métrica certa com 0,8% de positivos. Não usei SMOTE, para preservar a calibração.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teste de 2024, o XGBoost completo teve AUROC de 0,964 e AUPRC de 0,603. O artigo teve 0,971 e 0,586. H1 se confirma. A logística fica muito perto: em AUROC, a diferença para o XGBoost é de 0,001, com intervalo que inclui zero. O ganho do XGBoost aparece na AUPRC, entre os casos de maior risco. Na prática, as variáveis da DN carregam quase toda a informação, e o algoritmo importa pouco. A precisão no limiar é maior e a sensibilidade menor que no artigo, mas isso decorre da escolha do limiar.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Nas curvas, as linhas cheias são o modelo completo e as tracejadas, o pré-parto. Os três algoritmos quase se sobrepõem. À direita está a métrica operacional: priorizando 5% dos nascimentos, o modelo completo captura 88% dos óbitos e o pré-parto, 71%. Ramos e colegas, em 2025, com dados nacionais, encontraram mais de 85%, o que é coerente. A diferença para os 90% do artigo é compatível com os óbitos sem par verdadeiro, que têm outro perfil (mais campos ausentes, mais do interior, mais óbitos precoces fora do hospital), e com a heterogeneidade do estado.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modelo pré-parto perde 0,074 de AUROC e bem mais de AUPRC, mas ainda chega a 0,891. H2 se confirma em parte: perdeu, mas continua útil. Pelo SHAP, quase tudo vem da idade gestacional. Por isso, o uso precisa ser bem delimitado: na admissão, com o parto iminente, para decidir transferência in utero para uma maternidade com UTI neonatal e preparar a equipe. Ele não serve para triagem precoce da gestação, porque nem a idade gestacional do parto nem as consultas acumuladas são conhecidas semanas antes. Essa é uma pergunta provável da banca.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pergunta mais provável é se os erros do linkage explicam os resultados. Para testar, reajustei o modelo com rótulos alternativos no treino, avaliando sempre no mesmo teste de 2024. No cenário estrito, removi os pares duvidosos. No pior caso, marquei-os como sobreviventes. A AUROC mudou -0,0009 e -0,0013, com intervalos que incluem zero: o modelo é robusto a ruído de rótulo no treino. No teste, sem os pares duvidosos, a AUROC fica em 0,965, então eles não inflam o resultado. Os óbitos que ficaram sem par, esses sim, não podem ser avaliados. Já o O/E sobe para até 1,16: a calibração absoluta depende da completude do linkage. As limitações principais são os rótulos imperfeitos, a falta de validação externa e o uso de variáveis do pós-parto no modelo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concluir. Primeiro, dá para reproduzir o resultado do artigo com dados totalmente abertos, e a discriminação é robusta a ruído de rótulo no treino. As explicações SHAP são aditivas, estáveis e plausíveis. Segundo, a calibração absoluta não é: depende da completude do linkage e do drift temporal, então um uso real exigiria recalibração periódica. Terceiro, o modelo na admissão para o parto tem desempenho útil para decisões de transferência. Como próximos passos: validar em outros estados, acrescentar uma etapa probabilística ao linkage e avaliar o impacto com gestores. O código e os dados de reprodução estão no repositório. Obrigado.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Agora a explicabilidade. Usei SHAP, que decompõe o log-odds de cada nascimento em contribuições aditivas. Primeiro verifiquei a aditividade: a soma reproduz a predição com erro menor que 1e-5. Isso expôs uma armadilha: com early stopping, o XGBoost usa por padrão todas as árvores, inclusive as posteriores à melhor iteração, e o SHAP explicaria outro modelo. Nos gráficos de dependência, os efeitos são clinicamente plausíveis: o risco cai com Apgar, peso e idade gestacional, e sobe com a idade materna acima de 37 anos. As consultas de pré-natal têm forma de U: acima de 17 consultas, o risco sobe. Isso é confusão por indicação, porque gestações de alto risco são mais acompanhadas. Então o SHAP mostra associação no modelo, não causa.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explicações locais mostram três casos. O óbito bem previsto tinha 670 gramas, Apgar 1 e anomalia. O óbito que o modelo não sinalizou era um bebê a termo, de 3.450 gramas, com anomalia congênita: o indicador da DN é só sim ou não, e não separa malformações letais; o tipo de anomalia existe na DN e fica como trabalho futuro. O caso mais interessante é o falso positivo: 385 gramas e 21 semanas, marcado como sobrevivente. Isso é quase certamente um óbito que o linkage não pareou. A explicação expõe o ruído de rótulo. As explicações são estáveis: o ranking do XGBoost e do LightGBM tem correlação de 0,90 no modelo A, e entre metades da amostra, 0,999. No pré-parto, raça e escolaridade pesam 8% da importância.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busca escolheu reponderar a classe positiva, e por isso o escore bruto superestima o risco: O/E de 0,23, as curvas pontilhadas. A recalibração isotônica, ajustada em 2023, é indispensável e leva o O/E a 0,95; a curva recalibrada acompanha a diagonal. A leve superestimação que sobra é compatível com a queda da mortalidade de 2023 para 2024. Na curva de decisão, tratar todos é negativo para qualquer limiar acima da prevalência, então superá-lo é trivial; a comparação que importa é com não intervir. Escolhi a faixa de 2 a 10% pelo uso clínico: para uma transferência in utero, é razoável aceitar entre 9 e 49 falsos alarmes por óbito identificado. Nessa faixa, o benefício líquido é sempre positivo nos dois modelos.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Subgrupos e H3. A hipótese era calibração pior na baixa escolaridade. O O/E nesse grupo foi 0,99, com intervalo que inclui 1, então H3 não se confirmou. O achado de equidade que se sustenta é outro: no modelo completo, a discriminação é pior para filhos de mães com baixa escolaridade, com AUROC de 0,950 contra 0,980, e os intervalos não se sobrepõem. Já as diferenças de calibração por subgrupo mudaram de um ano para outro: no teste de 2023, o modelo subestimava mães brancas e o interior, e em 2024 isso não se repetiu. Por isso não as interpreto como viés estrutural. Testei também o linkage diferencial por região: ele desloca o O/E em menos de 2% e não explica as diferenças.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4F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789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200" b="1" i="0">
                <a:solidFill>
                  <a:srgbClr val="FFFFFF"/>
                </a:solidFill>
                <a:latin typeface="Cambria"/>
              </a:rPr>
              <a:t>Predição de mortalidade neonatal no Rio de Janeiro com dados abertos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9CCFC6"/>
                </a:solidFill>
                <a:latin typeface="Calibri"/>
              </a:rPr>
              <a:t>Linkage SINASC × SIM sem identificadores e aprendizado de máquina · 1.560.938 nascidos vivos, 2017–2024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Cledson da Silva Araújo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Introdução ao Aprendizado de Máquina para a Saúde · UFF · 2026.2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Motivação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Quem nasce com maior risco de morrer no primeiro mês?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874519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0B4F5C"/>
                </a:solidFill>
                <a:latin typeface="Cambria"/>
              </a:rPr>
              <a:t>8,6‰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9260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2E"/>
                </a:solidFill>
                <a:latin typeface="Calibri"/>
              </a:rPr>
              <a:t>óbitos neonatais por mil nascidos vivos no RJ, 2017–2024 (SIM)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1480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4251960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E85D3F"/>
                </a:solidFill>
                <a:latin typeface="Cambria"/>
              </a:rPr>
              <a:t>13.471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530352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2E"/>
                </a:solidFill>
                <a:latin typeface="Calibri"/>
              </a:rPr>
              <a:t>óbitos de 0 a 27 dias de vida em sete anos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828800"/>
            <a:ext cx="69494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800" b="0" i="0">
                <a:solidFill>
                  <a:srgbClr val="1F2A2E"/>
                </a:solidFill>
                <a:latin typeface="Calibri"/>
              </a:rPr>
              <a:t>O período neonatal concentra a maior parte da mortalidade infantil, sobretudo por causas evitáveis.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800" b="0" i="0">
                <a:solidFill>
                  <a:srgbClr val="1F2A2E"/>
                </a:solidFill>
                <a:latin typeface="Calibri"/>
              </a:rPr>
              <a:t>A Declaração de Nascido Vivo (DN) é preenchida para todo nascimento e já está digitalizada.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800" b="0" i="0">
                <a:solidFill>
                  <a:srgbClr val="1F2A2E"/>
                </a:solidFill>
                <a:latin typeface="Calibri"/>
              </a:rPr>
              <a:t>Um escore de risco automático poderia priorizar UTI neonatal, transporte e visita domiciliar.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800" b="1" i="0">
                <a:solidFill>
                  <a:srgbClr val="0B4F5C"/>
                </a:solidFill>
                <a:latin typeface="Calibri"/>
              </a:rPr>
              <a:t>Pergunta: </a:t>
            </a:r>
            <a:r>
              <a:rPr sz="1800" b="0" i="0">
                <a:solidFill>
                  <a:srgbClr val="1F2A2E"/>
                </a:solidFill>
                <a:latin typeface="Calibri"/>
              </a:rPr>
              <a:t>dá para fazer isso só com dados abertos?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Artigo de referência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Batista et al. (2021), BMC Pediatrics 21:322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8521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700" b="0" i="0">
                <a:solidFill>
                  <a:srgbClr val="1F2A2E"/>
                </a:solidFill>
                <a:latin typeface="Calibri"/>
              </a:rPr>
              <a:t>Município de São Paulo, nascimentos 2012–2017: 1.128.162 nascidos vivos, 7.282 óbitos neonatais.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700" b="0" i="0">
                <a:solidFill>
                  <a:srgbClr val="1F2A2E"/>
                </a:solidFill>
                <a:latin typeface="Calibri"/>
              </a:rPr>
              <a:t>Linkage probabilístico SINASC × SIM com dados identificados (cedidos pela prefeitura).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700" b="0" i="0">
                <a:solidFill>
                  <a:srgbClr val="1F2A2E"/>
                </a:solidFill>
                <a:latin typeface="Calibri"/>
              </a:rPr>
              <a:t>23 variáveis da DN; cinco algoritmos; otimização bayesiana; treino 2012–2016, teste 2017.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700" b="0" i="0">
                <a:solidFill>
                  <a:srgbClr val="1F2A2E"/>
                </a:solidFill>
                <a:latin typeface="Calibri"/>
              </a:rPr>
              <a:t>Principais variáveis (SHAP): Apgar 5, peso, Apgar 1, anomalia, idade gestacional.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1737360"/>
            <a:ext cx="4846320" cy="448056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0" y="1874519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4F5C"/>
                </a:solidFill>
                <a:latin typeface="Calibri"/>
              </a:rPr>
              <a:t>XGBoost no teste de 2017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46888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B4F5C"/>
                </a:solidFill>
                <a:latin typeface="Cambria"/>
              </a:rPr>
              <a:t>0,971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260604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AUROC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338328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B4F5C"/>
                </a:solidFill>
                <a:latin typeface="Cambria"/>
              </a:rPr>
              <a:t>0,586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352044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AUPRC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429768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B4F5C"/>
                </a:solidFill>
                <a:latin typeface="Cambria"/>
              </a:rPr>
              <a:t>0,548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443484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21208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B4F5C"/>
                </a:solidFill>
                <a:latin typeface="Cambria"/>
              </a:rPr>
              <a:t>&gt; 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34924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dos óbitos nos 5% de maior risco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Lacunas e perguntas de pesquisa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474720" cy="466344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rgbClr val="0B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42316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B4F5C"/>
                </a:solidFill>
                <a:latin typeface="Calibri"/>
              </a:rPr>
              <a:t>Reprodução com dados abertos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3291840"/>
            <a:ext cx="2926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2E"/>
                </a:solidFill>
                <a:latin typeface="Calibri"/>
              </a:rPr>
              <a:t>Os microdados públicos não têm número da DN nem nome: é possível parear e reproduzir o desempenho no RJ?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530352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E85D3F"/>
                </a:solidFill>
                <a:latin typeface="Calibri"/>
              </a:rPr>
              <a:t>H1: AUROC ≥ 0,95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463040"/>
            <a:ext cx="3474720" cy="466344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26279" y="1691640"/>
            <a:ext cx="548640" cy="548640"/>
          </a:xfrm>
          <a:prstGeom prst="ellipse">
            <a:avLst/>
          </a:prstGeom>
          <a:solidFill>
            <a:srgbClr val="0B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1999" y="242316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B4F5C"/>
                </a:solidFill>
                <a:latin typeface="Calibri"/>
              </a:rPr>
              <a:t>Risco antes do parto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3291840"/>
            <a:ext cx="2926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2E"/>
                </a:solidFill>
                <a:latin typeface="Calibri"/>
              </a:rPr>
              <a:t>Quanto se perde sem Apgar, peso e anomalia, usando só o que se sabe na admissão para o parto?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530352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E85D3F"/>
                </a:solidFill>
                <a:latin typeface="Calibri"/>
              </a:rPr>
              <a:t>H2: queda substancial, ainda útil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463040"/>
            <a:ext cx="3474720" cy="466344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75319" y="1691640"/>
            <a:ext cx="548640" cy="548640"/>
          </a:xfrm>
          <a:prstGeom prst="ellipse">
            <a:avLst/>
          </a:prstGeom>
          <a:solidFill>
            <a:srgbClr val="0B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42316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B4F5C"/>
                </a:solidFill>
                <a:latin typeface="Calibri"/>
              </a:rPr>
              <a:t>Calibração e equidade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291840"/>
            <a:ext cx="2926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2E"/>
                </a:solidFill>
                <a:latin typeface="Calibri"/>
              </a:rPr>
              <a:t>O modelo erra mais para algum grupo de raça/cor, escolaridade da mãe ou região?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530352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E85D3F"/>
                </a:solidFill>
                <a:latin typeface="Calibri"/>
              </a:rPr>
              <a:t>H3: calibração pior na baixa escolaridade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Dados e desenho temporal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Microdados públicos do DATASUS, residentes no estado do RJ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291840" cy="219456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87451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4F5C"/>
                </a:solidFill>
                <a:latin typeface="Calibri"/>
              </a:rPr>
              <a:t>Ajuste · 2017–2022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42316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1.221.071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200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2E"/>
                </a:solidFill>
                <a:latin typeface="Calibri"/>
              </a:rPr>
              <a:t>nascidos vivos · 9.405 óbitos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86200" y="2651760"/>
            <a:ext cx="365760" cy="365760"/>
          </a:xfrm>
          <a:prstGeom prst="rightArrow">
            <a:avLst/>
          </a:prstGeom>
          <a:solidFill>
            <a:srgbClr val="9C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79" y="1737360"/>
            <a:ext cx="3291840" cy="219456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87451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4F5C"/>
                </a:solidFill>
                <a:latin typeface="Calibri"/>
              </a:rPr>
              <a:t>Validação · 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42316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176.145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3200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2E"/>
                </a:solidFill>
                <a:latin typeface="Calibri"/>
              </a:rPr>
              <a:t>nascidos vivos · 1.444 óbitos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635240" y="2651760"/>
            <a:ext cx="365760" cy="365760"/>
          </a:xfrm>
          <a:prstGeom prst="rightArrow">
            <a:avLst/>
          </a:prstGeom>
          <a:solidFill>
            <a:srgbClr val="9C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6719" y="1737360"/>
            <a:ext cx="3291840" cy="2194560"/>
          </a:xfrm>
          <a:prstGeom prst="roundRect">
            <a:avLst>
              <a:gd name="adj" fmla="val 8000"/>
            </a:avLst>
          </a:prstGeom>
          <a:solidFill>
            <a:srgbClr val="E85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87451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Teste · 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42316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163.722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200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nascidos vivos · 1.306 óbitos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97680"/>
            <a:ext cx="1109441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SINASC (DNRJ2017–2024) e SIM (DORJ2017–2025) baixados do FTP do DATASUS, sem cadastro.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Desfecho: óbito não fetal com 0 a 27 dias de vida. O SIM vai até 2025 para captar quem nasceu em dezembro de 2024.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Validação usada para hiperparâmetros, early stopping, recalibração e limiar; 2024 é avaliado uma única vez.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Linkage sem identificadores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A Declaração de Óbito de menores de 1 ano repete dados do nascimento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1206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6 chaves compostas em cascata: data de nascimento, sexo, município, peso, idade da mãe, semanas de gestação, gravidez, parto, estabelecimento.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Só pares 1:1 em cada passada.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Falsos pares estimados por mistura em campos fora das chaves.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572000"/>
            <a:ext cx="2468880" cy="173736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66344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90,2%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44068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F2A2E"/>
                </a:solidFill>
                <a:latin typeface="Calibri"/>
              </a:rPr>
              <a:t>dos 13.471 óbitos pareados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4572000"/>
            <a:ext cx="2468880" cy="173736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466344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E85D3F"/>
                </a:solidFill>
                <a:latin typeface="Cambria"/>
              </a:rPr>
              <a:t>≈85%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544068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F2A2E"/>
                </a:solidFill>
                <a:latin typeface="Calibri"/>
              </a:rPr>
              <a:t>com par verdadeiro, descontados os falsos pares</a:t>
            </a:r>
          </a:p>
        </p:txBody>
      </p:sp>
      <p:pic>
        <p:nvPicPr>
          <p:cNvPr id="11" name="Picture 10" descr="linkage_por_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669280" cy="289077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475488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0"/>
                </a:solidFill>
                <a:latin typeface="Calibri"/>
              </a:rPr>
              <a:t>Falsos pares estimados nas passadas 1–2 (que somam 82% dos pares): até 8%. As passadas tolerantes chegam a 31%. Pareamento: 94,3% na capital, 88,2% no interior. Óbitos sem peso na DO quase não pareiam.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Dois conjuntos de variáveis × três modelos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228600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7830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4F5C"/>
                </a:solidFill>
                <a:latin typeface="Calibri"/>
              </a:rPr>
              <a:t>A · completo (28 variáveis da DN)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8600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Tudo o que o artigo usa: Apgar 1 e 5, peso, anomalia, idade gestacional, tipo de parto, Robson, pré-natal, dados da mãe.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394960" cy="228600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7830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4F5C"/>
                </a:solidFill>
                <a:latin typeface="Calibri"/>
              </a:rPr>
              <a:t>B · pré-parto (17 variáveis)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28600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O que se sabe na admissão: idade gestacional, gemelaridade, apresentação, consultas e início do pré-natal, Kotelchuck, histórico obstétrico, mãe.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06240"/>
            <a:ext cx="11094415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Regressão logística (L2, baseline) · XGBoost (modelo do artigo) · LightGBM.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Optuna/TPE maximizando a AUPRC em 2023; peso de classe como hiperparâmetro (nenhum, raiz, total).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Recalibração isotônica em 2023. Discriminação pelo escore bruto; calibração e limiar pela probabilidade.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IC 95% por bootstrap estratificado (500); ΔAUROC/ΔAUPRC por bootstrap pareado; SHAP em 20 mil nascimentos.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Resultados no teste de 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IC 95% por bootstrap; limiar escolhido em 2023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9164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371600"/>
                <a:gridCol w="2377440"/>
                <a:gridCol w="2377440"/>
                <a:gridCol w="109728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Conjunto</a:t>
                      </a:r>
                    </a:p>
                  </a:txBody>
                  <a:tcPr marL="73152" marR="73152" anchor="ctr">
                    <a:solidFill>
                      <a:srgbClr val="0B4F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marL="73152" marR="73152" anchor="ctr">
                    <a:solidFill>
                      <a:srgbClr val="0B4F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AUROC</a:t>
                      </a:r>
                    </a:p>
                  </a:txBody>
                  <a:tcPr marL="73152" marR="73152" anchor="ctr">
                    <a:solidFill>
                      <a:srgbClr val="0B4F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AUPRC</a:t>
                      </a:r>
                    </a:p>
                  </a:txBody>
                  <a:tcPr marL="73152" marR="73152" anchor="ctr">
                    <a:solidFill>
                      <a:srgbClr val="0B4F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73152" marR="73152" anchor="ctr">
                    <a:solidFill>
                      <a:srgbClr val="0B4F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Óbitos no top 5%</a:t>
                      </a:r>
                    </a:p>
                  </a:txBody>
                  <a:tcPr marL="73152" marR="73152" anchor="ctr">
                    <a:solidFill>
                      <a:srgbClr val="0B4F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A · completo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LR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0,963 (0,956–0,969)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0,551 (0,526–0,579)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0,554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88,0%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A · completo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0,964 (0,958–0,970)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0,603 (0,577–0,628)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0,604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88,0%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A · completo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LightGBM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0,964 (0,958–0,970)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0,580 (0,552–0,608)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0,596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87,7%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B · pré-parto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LR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0,886 (0,874–0,896)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0,366 (0,338–0,394)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0,450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70,5%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B · pré-parto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0,891 (0,879–0,902)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0,390 (0,360–0,418)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0,454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71,4%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B · pré-parto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LightGBM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0,890 (0,879–0,901)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0,396 (0,367–0,424)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0,457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71,0%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0944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4F5C"/>
                </a:solidFill>
                <a:latin typeface="Calibri"/>
              </a:rPr>
              <a:t>Artigo (SP, 2017): </a:t>
            </a:r>
            <a:r>
              <a:rPr sz="1600" b="0" i="0">
                <a:solidFill>
                  <a:srgbClr val="1F2A2E"/>
                </a:solidFill>
                <a:latin typeface="Calibri"/>
              </a:rPr>
              <a:t>AUROC 0,971 · AUPRC 0,586 · F1 0,548 · &gt; 90% dos óbitos no top 5%.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4F5C"/>
                </a:solidFill>
                <a:latin typeface="Calibri"/>
              </a:rPr>
              <a:t>XGBoost × LR (A): </a:t>
            </a:r>
            <a:r>
              <a:rPr sz="1600" b="0" i="0">
                <a:solidFill>
                  <a:srgbClr val="1F2A2E"/>
                </a:solidFill>
                <a:latin typeface="Calibri"/>
              </a:rPr>
              <a:t>ΔAUROC 0,001, ΔAUPRC 0,052: ganho pequeno do boosting.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Discriminação e captura de óbitos</a:t>
            </a:r>
          </a:p>
        </p:txBody>
      </p:sp>
      <p:pic>
        <p:nvPicPr>
          <p:cNvPr id="3" name="Picture 2" descr="roc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6949440" cy="3356386"/>
          </a:xfrm>
          <a:prstGeom prst="rect">
            <a:avLst/>
          </a:prstGeom>
        </p:spPr>
      </p:pic>
      <p:pic>
        <p:nvPicPr>
          <p:cNvPr id="4" name="Picture 3" descr="captura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63040"/>
            <a:ext cx="4114800" cy="25824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4206240"/>
            <a:ext cx="4114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2E"/>
                </a:solidFill>
                <a:latin typeface="Calibri"/>
              </a:rPr>
              <a:t>Priorizando 5% dos nascimentos, o modelo completo captura 88% dos óbitos; o pré-parto, 71%.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Quanto vale o momento do parto?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XGBoost: conjunto completo × pré-parto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291840" cy="201168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82880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0B4F5C"/>
                </a:solidFill>
                <a:latin typeface="Cambria"/>
              </a:rPr>
              <a:t>0,891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74320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2E"/>
                </a:solidFill>
                <a:latin typeface="Calibri"/>
              </a:rPr>
              <a:t>AUROC do modelo na admissão para o parto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23360"/>
            <a:ext cx="3291840" cy="219456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E85D3F"/>
                </a:solidFill>
                <a:latin typeface="Cambria"/>
              </a:rPr>
              <a:t>−0,074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502920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2E"/>
                </a:solidFill>
                <a:latin typeface="Calibri"/>
              </a:rPr>
              <a:t>ΔAUROC (IC 0,064–0,084); ΔAUPRC −0,214</a:t>
            </a:r>
          </a:p>
        </p:txBody>
      </p:sp>
      <p:pic>
        <p:nvPicPr>
          <p:cNvPr id="10" name="Picture 9" descr="shap_importa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737360"/>
            <a:ext cx="7589520" cy="312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4800" y="5120640"/>
            <a:ext cx="7589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2E"/>
                </a:solidFill>
                <a:latin typeface="Calibri"/>
              </a:rPr>
              <a:t>A idade gestacional domina, e consultas e Kotelchuck também dependem dela.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4F5C"/>
                </a:solidFill>
                <a:latin typeface="Calibri"/>
              </a:rPr>
              <a:t>Uso: </a:t>
            </a:r>
            <a:r>
              <a:rPr sz="1400" b="0" i="0">
                <a:solidFill>
                  <a:srgbClr val="1F2A2E"/>
                </a:solidFill>
                <a:latin typeface="Calibri"/>
              </a:rPr>
              <a:t>risco na admissão, dado que o parto é agora (transferência in utero). Não serve para triagem precoce.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Explicabilidade: o que o modelo aprendeu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SHAP exato (TreeSHAP) em 20 mil nascimentos de 2024</a:t>
            </a:r>
          </a:p>
        </p:txBody>
      </p:sp>
      <p:pic>
        <p:nvPicPr>
          <p:cNvPr id="4" name="Picture 3" descr="xai_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406640" cy="3742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554480"/>
            <a:ext cx="356616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400" b="1" i="0">
                <a:solidFill>
                  <a:srgbClr val="0B4F5C"/>
                </a:solidFill>
                <a:latin typeface="Calibri"/>
              </a:rPr>
              <a:t>Verificado: </a:t>
            </a:r>
            <a:r>
              <a:rPr sz="1400" b="0" i="0">
                <a:solidFill>
                  <a:srgbClr val="1F2A2E"/>
                </a:solidFill>
                <a:latin typeface="Calibri"/>
              </a:rPr>
              <a:t>φ0 + Σφ reproduz o log-odds (erro &lt; 1e-5), usando só as árvores da melhor iteração.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400" b="0" i="0">
                <a:solidFill>
                  <a:srgbClr val="1F2A2E"/>
                </a:solidFill>
                <a:latin typeface="Calibri"/>
              </a:rPr>
              <a:t>Apgar, peso e IG: risco cai de forma monotônica, como esperado.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400" b="0" i="0">
                <a:solidFill>
                  <a:srgbClr val="1F2A2E"/>
                </a:solidFill>
                <a:latin typeface="Calibri"/>
              </a:rPr>
              <a:t>Idade da mãe &gt; 37 anos aumenta o risco (modelo B).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400" b="1" i="0">
                <a:solidFill>
                  <a:srgbClr val="0B4F5C"/>
                </a:solidFill>
                <a:latin typeface="Calibri"/>
              </a:rPr>
              <a:t>Consultas em U: </a:t>
            </a:r>
            <a:r>
              <a:rPr sz="1400" b="0" i="0">
                <a:solidFill>
                  <a:srgbClr val="1F2A2E"/>
                </a:solidFill>
                <a:latin typeface="Calibri"/>
              </a:rPr>
              <a:t>mais de 17 consultas aumenta o risco, confusão por indicação. SHAP é associação, não causa.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Explicações locais e estabilidade</a:t>
            </a:r>
          </a:p>
        </p:txBody>
      </p:sp>
      <p:pic>
        <p:nvPicPr>
          <p:cNvPr id="3" name="Picture 2" descr="xai_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94415" cy="30149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434840"/>
            <a:ext cx="110944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400" b="0" i="0">
                <a:solidFill>
                  <a:srgbClr val="1F2A2E"/>
                </a:solidFill>
                <a:latin typeface="Calibri"/>
              </a:rPr>
              <a:t>Óbito não sinalizado (4,4%): a termo, 3.450 g, com anomalia; a DN não diz o tipo de anomalia. "Sobrevivente" de 385 g e 21 semanas: quase certamente um óbito não pareado.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400" b="0" i="0">
                <a:solidFill>
                  <a:srgbClr val="1F2A2E"/>
                </a:solidFill>
                <a:latin typeface="Calibri"/>
              </a:rPr>
              <a:t>Ranking estável: Spearman XGBoost × LightGBM de 0,90 (A) e 0,98 (B); entre metades da amostra, 0,999.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400" b="0" i="0">
                <a:solidFill>
                  <a:srgbClr val="1F2A2E"/>
                </a:solidFill>
                <a:latin typeface="Calibri"/>
              </a:rPr>
              <a:t>Raça/cor e escolaridade da mãe respondem por 7,9% da importância no modelo B: é o gradiente socioeconômico substituindo o estado do recém-nascido.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Calibração e utilidade clínica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XGBoost, teste de 2024</a:t>
            </a:r>
          </a:p>
        </p:txBody>
      </p:sp>
      <p:pic>
        <p:nvPicPr>
          <p:cNvPr id="4" name="Picture 3" descr="calibracao_deci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554480"/>
            <a:ext cx="7315200" cy="2804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434840"/>
            <a:ext cx="110944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400" b="0" i="0">
                <a:solidFill>
                  <a:srgbClr val="1F2A2E"/>
                </a:solidFill>
                <a:latin typeface="Calibri"/>
              </a:rPr>
              <a:t>Curva próxima da diagonal; inclinação 1,01 (A) e 0,98 (B). Recalibrar é indispensável: com o peso de classe escolhido, o escore bruto tem O/E 0,23; a isotônica leva a 0,95. A leve superestimação acompanha a queda da TMN de 8,20‰ (2023) para 7,98‰ (2024).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400" b="0" i="0">
                <a:solidFill>
                  <a:srgbClr val="1F2A2E"/>
                </a:solidFill>
                <a:latin typeface="Calibri"/>
              </a:rPr>
              <a:t>Tratar todos é negativo acima de 0,8%, então a comparação que importa é com não intervir.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400" b="0" i="0">
                <a:solidFill>
                  <a:srgbClr val="1F2A2E"/>
                </a:solidFill>
                <a:latin typeface="Calibri"/>
              </a:rPr>
              <a:t>Faixa clínica 2–10% (9 a 49 falsos alarmes por óbito): benefício de 6,2–4,9 por mil (A) e 4,7–3,3 (B).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Subgrupos e H3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IC 95% por bootstrap dentro de cada subgrupo</a:t>
            </a:r>
          </a:p>
        </p:txBody>
      </p:sp>
      <p:pic>
        <p:nvPicPr>
          <p:cNvPr id="4" name="Picture 3" descr="sub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35656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47472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500" b="1" i="0">
                <a:solidFill>
                  <a:srgbClr val="0B4F5C"/>
                </a:solidFill>
                <a:latin typeface="Calibri"/>
              </a:rPr>
              <a:t>H3 não confirmada: </a:t>
            </a:r>
            <a:r>
              <a:rPr sz="1500" b="0" i="0">
                <a:solidFill>
                  <a:srgbClr val="1F2A2E"/>
                </a:solidFill>
                <a:latin typeface="Calibri"/>
              </a:rPr>
              <a:t>O/E na baixa escolaridade 0,99 (IC 0,90–1,09), que inclui 1.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500" b="1" i="0">
                <a:solidFill>
                  <a:srgbClr val="0B4F5C"/>
                </a:solidFill>
                <a:latin typeface="Calibri"/>
              </a:rPr>
              <a:t>Discriminação: </a:t>
            </a:r>
            <a:r>
              <a:rPr sz="1500" b="0" i="0">
                <a:solidFill>
                  <a:srgbClr val="1F2A2E"/>
                </a:solidFill>
                <a:latin typeface="Calibri"/>
              </a:rPr>
              <a:t>no modelo A, AUROC de 0,950 na baixa escolaridade contra 0,980 no superior (IC não se sobrepõem).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A2E"/>
                </a:solidFill>
                <a:latin typeface="Calibri"/>
              </a:rPr>
              <a:t>Calibração por subgrupo instável: os desvios vistos no teste de 2023 não se repetiram em 2024.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Sensibilidade ao linkage e limitações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11094415" cy="137160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55448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4F5C"/>
                </a:solidFill>
                <a:latin typeface="Calibri"/>
              </a:rPr>
              <a:t>Mesmo teste de 2024, rótulos alternativos no treino: </a:t>
            </a:r>
            <a:r>
              <a:rPr sz="1500" b="0" i="0">
                <a:solidFill>
                  <a:srgbClr val="1F2A2E"/>
                </a:solidFill>
                <a:latin typeface="Calibri"/>
              </a:rPr>
              <a:t>ΔAUROC -0,0009 (estrito) e -0,0013 (pior caso): robusto a ruído de rótulo no treino; o O/E sobe para 1,07–1,16.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No teste sem os pares tolerantes, AUROC 0,965: eles não inflam o resultado. Os óbitos sem par não podem ser avaliados.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017520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C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3154679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4F5C"/>
                </a:solidFill>
                <a:latin typeface="Calibri"/>
              </a:rPr>
              <a:t>Rótulos imperfeitos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65760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≈15% sem par verdadeiro: mais ausências, interior e óbito precoce fora do hospital.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017520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C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3154679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4F5C"/>
                </a:solidFill>
                <a:latin typeface="Calibri"/>
              </a:rPr>
              <a:t>Um estado, anos recentes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65760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Validação temporal, mas não externa (outra UF).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54879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C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8920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4F5C"/>
                </a:solidFill>
                <a:latin typeface="Calibri"/>
              </a:rPr>
              <a:t>Idade gestacional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5394959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No modelo B é a IG do parto: vale para a admissão, não para semanas antes.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754879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C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8920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4F5C"/>
                </a:solidFill>
                <a:latin typeface="Calibri"/>
              </a:rPr>
              <a:t>Uso clínico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394959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Precisão de 60% no limiar (A): alertas precisam de desenho de fluxo.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4F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Conclusões e próximos passos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508760"/>
            <a:ext cx="640080" cy="640080"/>
          </a:xfrm>
          <a:prstGeom prst="ellipse">
            <a:avLst/>
          </a:prstGeom>
          <a:solidFill>
            <a:srgbClr val="9C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06333C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554480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Linkage aberto: 90,2% pareados (≈85% verdadeiros); robusto a ruído no treino.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468880"/>
            <a:ext cx="640080" cy="640080"/>
          </a:xfrm>
          <a:prstGeom prst="ellipse">
            <a:avLst/>
          </a:prstGeom>
          <a:solidFill>
            <a:srgbClr val="9C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06333C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14600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Reprodução do artigo no RJ: AUROC 0,964 e 88% dos óbitos no top 5%.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429000"/>
            <a:ext cx="640080" cy="640080"/>
          </a:xfrm>
          <a:prstGeom prst="ellipse">
            <a:avLst/>
          </a:prstGeom>
          <a:solidFill>
            <a:srgbClr val="9C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06333C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474720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Admissão para o parto: AUROC 0,891; explicações SHAP estáveis e plausíveis.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526280"/>
            <a:ext cx="11094415" cy="1783080"/>
          </a:xfrm>
          <a:prstGeom prst="roundRect">
            <a:avLst>
              <a:gd name="adj" fmla="val 8000"/>
            </a:avLst>
          </a:prstGeom>
          <a:solidFill>
            <a:srgbClr val="06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CCFC6"/>
                </a:solidFill>
                <a:latin typeface="Calibri"/>
              </a:rPr>
              <a:t>Trabalhos futuros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2064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Validação externa em outras UFs · etapa probabilística no linkage · completude do linkage por ano e região · recalibração periódica (drift) · avaliação de impacto com gestores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